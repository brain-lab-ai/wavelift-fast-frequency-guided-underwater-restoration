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</p:sldIdLst>
  <p:sldSz cx="18288000" cy="10287000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DM Sans Italics" panose="020B0604020202020204" charset="0"/>
      <p:regular r:id="rId14"/>
    </p:embeddedFont>
    <p:embeddedFont>
      <p:font typeface="Now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344BB-E1A2-E98D-9CFC-3388C35AD53C}" v="42" dt="2026-02-15T17:32:40.858"/>
    <p1510:client id="{D6FD11FC-FDC0-47B4-BC97-7DE6332AFFD8}" v="1065" dt="2026-02-15T20:37:29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4" d="100"/>
          <a:sy n="94" d="100"/>
        </p:scale>
        <p:origin x="192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95175" y="9258300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78387" y="8394213"/>
            <a:ext cx="12710460" cy="57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88"/>
              </a:lnSpc>
              <a:spcBef>
                <a:spcPct val="0"/>
              </a:spcBef>
            </a:pPr>
            <a:r>
              <a:rPr lang="en-US" sz="3730" i="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Abdulaziz Alfaraj, Hassan Al Nasser, Mohammed Al Naser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9841" y="2417912"/>
            <a:ext cx="11967552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1"/>
              </a:lnSpc>
            </a:pPr>
            <a:r>
              <a:rPr lang="en-US" sz="6317" b="1" dirty="0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WAVELIFT: FAST FREQUENCY-GUIDED UNDERWATER RESTORATION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21934" y="-2637567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168683" y="8912123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5822" y="1019175"/>
            <a:ext cx="11824634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05"/>
              </a:lnSpc>
              <a:spcBef>
                <a:spcPct val="0"/>
              </a:spcBef>
            </a:pPr>
            <a:r>
              <a:rPr lang="en-US" sz="5421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Application Domain: Underwater Image Enhancement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3400" y="3436901"/>
            <a:ext cx="10468418" cy="42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Underwater images often lo</a:t>
            </a:r>
            <a:r>
              <a:rPr lang="en-US" sz="35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ok too blue/green, low-contrast</a:t>
            </a:r>
            <a:endParaRPr lang="en-US" sz="35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endParaRPr lang="en-US" sz="3500" u="none" strike="noStrik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matters for underwater robots, marine inspection</a:t>
            </a: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real-time object detection, etc.</a:t>
            </a:r>
            <a:endParaRPr lang="ar-SA" sz="3500" u="none" strike="noStrik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23850" lvl="1" algn="l">
              <a:lnSpc>
                <a:spcPts val="4140"/>
              </a:lnSpc>
              <a:spcBef>
                <a:spcPct val="0"/>
              </a:spcBef>
            </a:pPr>
            <a:endParaRPr lang="en-US" sz="3500" u="none" strike="noStrik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14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5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 goal is to restore realistic colors and sharp details from degraded underwater photos.</a:t>
            </a:r>
          </a:p>
        </p:txBody>
      </p:sp>
      <p:pic>
        <p:nvPicPr>
          <p:cNvPr id="6" name="Picture 5" descr="A close-up of a coral reef&#10;&#10;AI-generated content may be incorrect.">
            <a:extLst>
              <a:ext uri="{FF2B5EF4-FFF2-40B4-BE49-F238E27FC236}">
                <a16:creationId xmlns:a16="http://schemas.microsoft.com/office/drawing/2014/main" id="{6040AF27-0053-61D8-1FC4-331834E6E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836" y="1943100"/>
            <a:ext cx="4153401" cy="71938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E1EB0-6E01-9D02-CCDF-EEA8D36FB943}"/>
              </a:ext>
            </a:extLst>
          </p:cNvPr>
          <p:cNvSpPr txBox="1"/>
          <p:nvPr/>
        </p:nvSpPr>
        <p:spPr>
          <a:xfrm>
            <a:off x="13231689" y="9141985"/>
            <a:ext cx="38626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Adapted from Zhao </a:t>
            </a:r>
            <a:r>
              <a:rPr lang="en-US" i="1" dirty="0">
                <a:solidFill>
                  <a:schemeClr val="bg1"/>
                </a:solidFill>
                <a:ea typeface="+mn-lt"/>
                <a:cs typeface="+mn-lt"/>
              </a:rPr>
              <a:t>et al.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(CVPR 2024)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21934" y="-2637567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286000" y="9182100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7199" y="871068"/>
            <a:ext cx="10896599" cy="1012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84"/>
              </a:lnSpc>
              <a:spcBef>
                <a:spcPct val="0"/>
              </a:spcBef>
            </a:pPr>
            <a:r>
              <a:rPr lang="en-US" sz="6570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Base Model and Datasets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" y="2369437"/>
            <a:ext cx="8991600" cy="6994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Reference Model: </a:t>
            </a:r>
            <a:r>
              <a:rPr lang="en-US" sz="32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WF-Diff </a:t>
            </a: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with 2 stages/modules</a:t>
            </a:r>
          </a:p>
          <a:p>
            <a:pPr marL="1273809" lvl="2" indent="-514350">
              <a:lnSpc>
                <a:spcPts val="3863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b="1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WFI2-net</a:t>
            </a:r>
            <a:r>
              <a:rPr lang="en-US" sz="32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that does the main improvement</a:t>
            </a:r>
          </a:p>
          <a:p>
            <a:pPr marL="1273809" lvl="2" indent="-514350">
              <a:lnSpc>
                <a:spcPts val="3863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b="1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FRDAM</a:t>
            </a:r>
            <a:r>
              <a:rPr lang="en-US" sz="32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has 2 branches deals with high frequenc</a:t>
            </a: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 (details/edges) and low-frequency (color/illumination) separately.</a:t>
            </a:r>
          </a:p>
          <a:p>
            <a:pPr marL="1273809" lvl="2" indent="-514350">
              <a:lnSpc>
                <a:spcPts val="3863"/>
              </a:lnSpc>
              <a:spcBef>
                <a:spcPct val="0"/>
              </a:spcBef>
              <a:buFont typeface="+mj-lt"/>
              <a:buAutoNum type="arabicPeriod"/>
            </a:pPr>
            <a:endParaRPr lang="en-US" sz="3200" u="none" strike="noStrik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3200" u="none" strike="noStrik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UIEB Dataset: </a:t>
            </a: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890 paired images (raw underwater + a “reference” improved image) and 90 non-paired</a:t>
            </a:r>
            <a:r>
              <a:rPr lang="ar-SA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images.</a:t>
            </a:r>
          </a:p>
          <a:p>
            <a:pPr marL="604519" lvl="1" indent="-302260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UIEB Dataset: 5004 paired images, much more diverse in underwater environments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CD46E0-3DE3-19B1-AB37-DB6D5989F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2639892"/>
            <a:ext cx="8284730" cy="5007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32F96F-0C60-F91C-AE39-24994AE6E31D}"/>
              </a:ext>
            </a:extLst>
          </p:cNvPr>
          <p:cNvSpPr txBox="1"/>
          <p:nvPr/>
        </p:nvSpPr>
        <p:spPr>
          <a:xfrm>
            <a:off x="13729783" y="1782920"/>
            <a:ext cx="1877435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a typeface="+mn-lt"/>
                <a:cs typeface="+mn-lt"/>
              </a:rPr>
              <a:t>WFI-2-net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7AF20-572E-1789-5BE5-ED8558D6F6A1}"/>
              </a:ext>
            </a:extLst>
          </p:cNvPr>
          <p:cNvSpPr txBox="1"/>
          <p:nvPr/>
        </p:nvSpPr>
        <p:spPr>
          <a:xfrm>
            <a:off x="13944601" y="8191500"/>
            <a:ext cx="1447800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a typeface="+mn-lt"/>
                <a:cs typeface="+mn-lt"/>
              </a:rPr>
              <a:t>FRDAM</a:t>
            </a:r>
            <a:endParaRPr lang="en-US" sz="3200" b="1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8B4430-B288-7DDF-A8B9-350DC0BCD7E9}"/>
              </a:ext>
            </a:extLst>
          </p:cNvPr>
          <p:cNvCxnSpPr/>
          <p:nvPr/>
        </p:nvCxnSpPr>
        <p:spPr>
          <a:xfrm flipV="1">
            <a:off x="14630400" y="7647107"/>
            <a:ext cx="0" cy="54439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0B97FC-D6D5-594C-0648-A7D13F8CD208}"/>
              </a:ext>
            </a:extLst>
          </p:cNvPr>
          <p:cNvCxnSpPr>
            <a:cxnSpLocks/>
          </p:cNvCxnSpPr>
          <p:nvPr/>
        </p:nvCxnSpPr>
        <p:spPr>
          <a:xfrm>
            <a:off x="14630400" y="2367695"/>
            <a:ext cx="0" cy="27219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876300"/>
            <a:ext cx="10283983" cy="1975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11"/>
              </a:lnSpc>
              <a:spcBef>
                <a:spcPct val="0"/>
              </a:spcBef>
            </a:pPr>
            <a:r>
              <a:rPr lang="en-US" sz="6426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Current Problems with WF-Diff</a:t>
            </a:r>
          </a:p>
        </p:txBody>
      </p:sp>
      <p:sp>
        <p:nvSpPr>
          <p:cNvPr id="3" name="Freeform 3"/>
          <p:cNvSpPr/>
          <p:nvPr/>
        </p:nvSpPr>
        <p:spPr>
          <a:xfrm>
            <a:off x="12921934" y="-2637567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168683" y="8912123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33400" y="3390900"/>
            <a:ext cx="11471862" cy="473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4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WF-Diff can look great on the training dataset, but performance drops on new environments/pictures.</a:t>
            </a:r>
          </a:p>
          <a:p>
            <a:pPr marL="1238250" lvl="2" indent="-457200">
              <a:lnSpc>
                <a:spcPts val="4140"/>
              </a:lnSpc>
              <a:buFont typeface="Wingdings" panose="05000000000000000000" pitchFamily="2" charset="2"/>
              <a:buChar char="§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Sensitive to water type and/or camera changes</a:t>
            </a:r>
          </a:p>
          <a:p>
            <a:pPr marL="781050" lvl="2">
              <a:lnSpc>
                <a:spcPts val="4140"/>
              </a:lnSpc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</a:p>
          <a:p>
            <a:pPr marL="647700" lvl="1" indent="-323850" algn="l">
              <a:lnSpc>
                <a:spcPts val="414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FRDAM uses 2 different diffusion branches, which affects inference speed massively</a:t>
            </a:r>
          </a:p>
          <a:p>
            <a:pPr marL="647700" lvl="1" indent="-323850" algn="l">
              <a:lnSpc>
                <a:spcPts val="4140"/>
              </a:lnSpc>
              <a:buFont typeface="Arial"/>
              <a:buChar char="•"/>
            </a:pPr>
            <a:endParaRPr lang="en-US" sz="35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47700" lvl="1" indent="-323850" algn="l">
              <a:lnSpc>
                <a:spcPts val="4140"/>
              </a:lnSpc>
              <a:buFont typeface="Arial"/>
              <a:buChar char="•"/>
            </a:pPr>
            <a:r>
              <a:rPr lang="en-US" sz="3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Goal: make enhancement stable across different underwater styles and to lower the inference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21934" y="-2637567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168683" y="8912123"/>
            <a:ext cx="4337366" cy="4337366"/>
          </a:xfrm>
          <a:custGeom>
            <a:avLst/>
            <a:gdLst/>
            <a:ahLst/>
            <a:cxnLst/>
            <a:rect l="l" t="t" r="r" b="b"/>
            <a:pathLst>
              <a:path w="4337366" h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21628" y="1028700"/>
            <a:ext cx="13378725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84"/>
              </a:lnSpc>
              <a:spcBef>
                <a:spcPct val="0"/>
              </a:spcBef>
            </a:pPr>
            <a:r>
              <a:rPr lang="en-US" sz="6570" b="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Proposed Improvements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6376" y="2857500"/>
            <a:ext cx="9296400" cy="597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full WF-Diff (with diffusion) as the teacher to generate high-quality outputs, then train a small student refiner (2 CNNs) to mimic the teacher’s refinement.</a:t>
            </a:r>
          </a:p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CNNs predict a small correction (residual) that is added to WFI2-net’s output to match teacher quality.</a:t>
            </a:r>
          </a:p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Apply pre-process low-frequency style randomization (simulate different watercolors, haze, and lighting).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D3E41-19C3-A6B3-CB95-DD75BDFB2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3009900"/>
            <a:ext cx="7527480" cy="52330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D7CD5-04E4-762C-59A3-163ACF434CA6}"/>
              </a:ext>
            </a:extLst>
          </p:cNvPr>
          <p:cNvSpPr txBox="1"/>
          <p:nvPr/>
        </p:nvSpPr>
        <p:spPr>
          <a:xfrm>
            <a:off x="10590720" y="8359583"/>
            <a:ext cx="7315200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Rough Sketch for the </a:t>
            </a:r>
            <a:r>
              <a:rPr lang="en-US" sz="2800" b="1">
                <a:solidFill>
                  <a:srgbClr val="FFFFFF"/>
                </a:solidFill>
                <a:ea typeface="DM Sans"/>
                <a:cs typeface="DM Sans"/>
                <a:sym typeface="DM Sans"/>
              </a:rPr>
              <a:t>Improvement Architecture</a:t>
            </a:r>
            <a:endParaRPr lang="en-US"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2265a6-241d-447e-84c0-d22c65546b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B4BA9E8A1EF74B91306A08D4EF0002" ma:contentTypeVersion="18" ma:contentTypeDescription="Create a new document." ma:contentTypeScope="" ma:versionID="2cc3386c8ab7223641f05cbe5ef7742a">
  <xsd:schema xmlns:xsd="http://www.w3.org/2001/XMLSchema" xmlns:xs="http://www.w3.org/2001/XMLSchema" xmlns:p="http://schemas.microsoft.com/office/2006/metadata/properties" xmlns:ns3="3e2265a6-241d-447e-84c0-d22c65546bbb" xmlns:ns4="c35ec016-431e-4ebd-893d-e1628a78c1a0" targetNamespace="http://schemas.microsoft.com/office/2006/metadata/properties" ma:root="true" ma:fieldsID="9f25c181ae5112bfaf8cb7ea09019405" ns3:_="" ns4:_="">
    <xsd:import namespace="3e2265a6-241d-447e-84c0-d22c65546bbb"/>
    <xsd:import namespace="c35ec016-431e-4ebd-893d-e1628a78c1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2265a6-241d-447e-84c0-d22c65546b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5ec016-431e-4ebd-893d-e1628a78c1a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C36915-B917-47C4-BBC1-037953FFA9CA}">
  <ds:schemaRefs>
    <ds:schemaRef ds:uri="http://schemas.microsoft.com/office/2006/documentManagement/types"/>
    <ds:schemaRef ds:uri="http://purl.org/dc/terms/"/>
    <ds:schemaRef ds:uri="c35ec016-431e-4ebd-893d-e1628a78c1a0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  <ds:schemaRef ds:uri="http://schemas.openxmlformats.org/package/2006/metadata/core-properties"/>
    <ds:schemaRef ds:uri="3e2265a6-241d-447e-84c0-d22c65546bbb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C503966-9708-4A3B-89C0-7037DAB90B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DA57C2-9357-4FBF-968B-C57EE692FE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2265a6-241d-447e-84c0-d22c65546bbb"/>
    <ds:schemaRef ds:uri="c35ec016-431e-4ebd-893d-e1628a78c1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284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DM Sans</vt:lpstr>
      <vt:lpstr>DM Sans Italics</vt:lpstr>
      <vt:lpstr>Wingdings</vt:lpstr>
      <vt:lpstr>Arial</vt:lpstr>
      <vt:lpstr>Now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ENG214Presentation</dc:title>
  <dc:creator>Abdulaziz Al-Faraj</dc:creator>
  <cp:lastModifiedBy>ABDULAZIZ MOHAMMED ALFARAJ</cp:lastModifiedBy>
  <cp:revision>3</cp:revision>
  <dcterms:created xsi:type="dcterms:W3CDTF">2006-08-16T00:00:00Z</dcterms:created>
  <dcterms:modified xsi:type="dcterms:W3CDTF">2026-02-15T20:37:29Z</dcterms:modified>
  <dc:identifier>DAHBaYHGXs0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0x010100D6B4BA9E8A1EF74B91306A08D4EF0002</vt:lpwstr>
  </property>
</Properties>
</file>